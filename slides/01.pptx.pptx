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Slide-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4" Type="http://schemas.openxmlformats.org/officeDocument/2006/relationships/slide" Target="slide8.xml"/><Relationship Id="rId5" Type="http://schemas.openxmlformats.org/officeDocument/2006/relationships/slide" Target="slide10.xm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4" Type="http://schemas.openxmlformats.org/officeDocument/2006/relationships/slide" Target="slide10.xml"/><Relationship Id="rId5" Type="http://schemas.openxmlformats.org/officeDocument/2006/relationships/slide" Target="slide12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4" Type="http://schemas.openxmlformats.org/officeDocument/2006/relationships/slide" Target="slide11.xml"/><Relationship Id="rId5" Type="http://schemas.openxmlformats.org/officeDocument/2006/relationships/slide" Target="slide13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4" Type="http://schemas.openxmlformats.org/officeDocument/2006/relationships/slide" Target="slide12.xml"/><Relationship Id="rId5" Type="http://schemas.openxmlformats.org/officeDocument/2006/relationships/slide" Target="slide14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" Target="slide1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gif"/><Relationship Id="rId3" Type="http://schemas.openxmlformats.org/officeDocument/2006/relationships/image" Target="../media/image-14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" Target="slide14.xml"/><Relationship Id="rId8" Type="http://schemas.openxmlformats.org/officeDocument/2006/relationships/slide" Target="slide16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Mathematical Foundations of AI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Scalars, Vectors, Matrices, and how AI uses them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38328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98E0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Scalar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Magnitude only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26280" y="338328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D4ED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Vector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[3, 4]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Magnitude + direction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3383280"/>
            <a:ext cx="32918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E11D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11D4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Matrix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[[1, 2], [3, 4]]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Collection of vectors</a:t>
            </a:r>
            <a:endParaRPr lang="en-US" sz="1600" dirty="0"/>
          </a:p>
        </p:txBody>
      </p:sp>
      <p:sp>
        <p:nvSpPr>
          <p:cNvPr id="10" name="Text 8">
            <a:hlinkClick r:id="rId2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2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6528816"/>
            <a:ext cx="25146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/ 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is a vector?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ordered list of numbers: order matters, [1, 2] ≠ [2, 1]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5577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Geometrically: an arrow with magnitude (length) and direction, from the tail at the origin to the head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5409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Dimension = number of elements. [1, 2] ∈ R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, [1, 4, 7] ∈ R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4904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every vector of dimension n</a:t>
            </a:r>
            <a:endParaRPr lang="en-US" sz="1600" dirty="0"/>
          </a:p>
        </p:txBody>
      </p:sp>
      <p:pic>
        <p:nvPicPr>
          <p:cNvPr id="7" name="Image 0" descr="What is a vector?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5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6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7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6528816"/>
            <a:ext cx="50292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 / 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Vector addition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v1 = [1, 2], v2 = [2, 1], v1 + v2 = [3, 3]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1051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Dimensions (number of elements) must match to add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05456"/>
            <a:ext cx="5577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Triangle rule: put the tail of v2 at the head of v1; the sum runs from the very start to the very 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Take either arrow, tail to head (dotted): you land on the same sum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1696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Addition is commutative: A + B = B + 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902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Matrices follow the same rule: add matching positions, same size required</a:t>
            </a:r>
            <a:endParaRPr lang="en-US" sz="1600" dirty="0"/>
          </a:p>
        </p:txBody>
      </p:sp>
      <p:pic>
        <p:nvPicPr>
          <p:cNvPr id="9" name="Image 0" descr="Vector addition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10" name="Text 7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1" name="Text 8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2" name="Text 9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03320" y="6528816"/>
            <a:ext cx="75438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/ 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Vector subtraction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v1 = [3, 3], v2 = [4, 1], v1 − v2 = [−1, 2]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1051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v1 − v2 is really v1 + (−v2)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311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Step 1: draw v1 and v2 from the origin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Step 2: flip v2 into −v2 (rotate it 180°)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7238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Step 3: put the tail of −v2 at the head of v1 (dotted)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6732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Step 4: the arrow from the origin to that new tip is v1 − v2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6227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 commutative: v1 − v2 ≠ v2 − v1 (opposite directions)</a:t>
            </a:r>
            <a:endParaRPr lang="en-US" sz="1600" dirty="0"/>
          </a:p>
        </p:txBody>
      </p:sp>
      <p:pic>
        <p:nvPicPr>
          <p:cNvPr id="10" name="Image 0" descr="Vector subtraction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11" name="Text 8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2" name="Text 9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3" name="Text 10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03320" y="6528816"/>
            <a:ext cx="100584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/ 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Vector space &amp; linear combination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47088"/>
            <a:ext cx="5577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Vector space: a set of vectors with addition and scalar multiplication; the result stays in the space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1635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Linear combination: c1·v1 + c2·v2, scale the vectors then add them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51129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v1 = (3, 1), v2 = (−1, 2), w = 2v1 + v2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0624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 = (6, 2) + (−1, 2) = (5, 4)</a:t>
            </a:r>
            <a:endParaRPr lang="en-US" sz="1600" dirty="0"/>
          </a:p>
        </p:txBody>
      </p:sp>
      <p:pic>
        <p:nvPicPr>
          <p:cNvPr id="7" name="Image 0" descr="Vector space &amp; linear combination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5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6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7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6528816"/>
            <a:ext cx="125730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/ 16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Linear dependence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Dependent: one vector can be written from the others, e.g. w = 2v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Here v = (1, 2) and w = (2, 4)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0545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combination a·v + b·w lands on the same line (green dots)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They span only a line: stuck on one line</a:t>
            </a:r>
            <a:endParaRPr lang="en-US" sz="1600" dirty="0"/>
          </a:p>
        </p:txBody>
      </p:sp>
      <p:pic>
        <p:nvPicPr>
          <p:cNvPr id="7" name="Image 0" descr="Linear dependence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5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6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7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6528816"/>
            <a:ext cx="150876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 / 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Linear independence &amp; span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Independent: none of them can be built from the others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 = (2, 1), w = (−1, 1): the combinations a·v + b·w (green dots) spread over the plane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7977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Span: the set of ALL combinations of a group of vectors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independent vectors span R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; n independent vectors are needed to span R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</a:t>
            </a:r>
            <a:endParaRPr lang="en-US" sz="1600" dirty="0"/>
          </a:p>
        </p:txBody>
      </p:sp>
      <p:pic>
        <p:nvPicPr>
          <p:cNvPr id="7" name="Image 0" descr="Linear independence &amp; span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5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6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7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6528816"/>
            <a:ext cx="176022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 / 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Basis: linearly independent vectors that span the whole space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R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, any 2 independent vectors form a basis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7977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They give a new grid: here b1 = (2, 1), b2 = (−1, 1)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 = 3·b1 + 1·b2, so u = (5, 4) has coordinates (3, 1) in this basis</a:t>
            </a:r>
            <a:endParaRPr lang="en-US" sz="1600" dirty="0"/>
          </a:p>
        </p:txBody>
      </p:sp>
      <p:pic>
        <p:nvPicPr>
          <p:cNvPr id="7" name="Image 0" descr="Basis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5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6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7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6528816"/>
            <a:ext cx="201168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 / 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Orthogonal basis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Orthogonal basis: basis vectors that are perpendicular, v1·v2 = 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v1 = (3, 1), v2 = (−1, 3)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0545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3·(−1) + 1·3 = 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Turn v2 until the angle reaches 90°: the dot product drops to 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2102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They do not need to have length 1</a:t>
            </a:r>
            <a:endParaRPr lang="en-US" sz="1600" dirty="0"/>
          </a:p>
        </p:txBody>
      </p:sp>
      <p:pic>
        <p:nvPicPr>
          <p:cNvPr id="8" name="Image 0" descr="Orthogonal basis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9" name="Text 6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0" name="Text 7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1" name="Text 8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03320" y="6528816"/>
            <a:ext cx="226314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 /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Orthonormal basis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8988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Orthonormal basis: orthogonal AND each vector has length 1 (unit vectors)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v1 = [1, 0], v2 = [0, 1]: ‖v1‖ = ‖v2‖ = 1 and v1·v2 = 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7977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Rotating the pair keeps it orthonormal: (cos φ, sin φ) and (−sin φ, cos φ)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Both tips stay on the unit circle</a:t>
            </a:r>
            <a:endParaRPr lang="en-US" sz="1600" dirty="0"/>
          </a:p>
        </p:txBody>
      </p:sp>
      <p:pic>
        <p:nvPicPr>
          <p:cNvPr id="7" name="Image 0" descr="Orthonormal basis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5">
            <a:hlinkClick r:id="rId3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6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7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6528816"/>
            <a:ext cx="251460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 / 16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Norms (length) &amp; unit vectors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4708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L1 · Manhattan: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‖v‖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|x| + |y| = |3| + |4| =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4203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L2 · Euclidean: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‖v‖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√(x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+ y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) = √25 = 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36976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Norm = length = magnitude. L1 walks the grid; L2 cuts straight through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062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Normalization: v̂ = v / ‖v‖, same direction, length 1</a:t>
            </a:r>
            <a:endParaRPr lang="en-US" sz="1600" dirty="0"/>
          </a:p>
        </p:txBody>
      </p:sp>
      <p:pic>
        <p:nvPicPr>
          <p:cNvPr id="7" name="Image 0" descr="Norms (length) &amp; unit vectors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594360"/>
            <a:ext cx="6035040" cy="3200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0" y="42976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v = (3, 4): ‖v‖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√(3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+ 4</a:t>
            </a:r>
            <a:pPr indent="0" marL="0">
              <a:buNone/>
            </a:pPr>
            <a:r>
              <a:rPr lang="en-US" sz="16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) = 5, so v̂ = (3/5, 4/5) = (0.6, 0.8)</a:t>
            </a:r>
            <a:endParaRPr lang="en-US" sz="1600" dirty="0"/>
          </a:p>
        </p:txBody>
      </p:sp>
      <p:sp>
        <p:nvSpPr>
          <p:cNvPr id="9" name="Text 6">
            <a:hlinkClick r:id="rId3" tooltip="Replay" action="ppaction://hlinksldjump"/>
          </p:cNvPr>
          <p:cNvSpPr txBox="1"/>
          <p:nvPr/>
        </p:nvSpPr>
        <p:spPr>
          <a:xfrm>
            <a:off x="5532120" y="557784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0" name="Text 7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1" name="Text 8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03320" y="6528816"/>
            <a:ext cx="276606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 / 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Dot product &amp; cosine similarity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4708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Algebraic: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a·b = a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+ a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</a:t>
            </a:r>
            <a:pPr indent="0" marL="0">
              <a:buNone/>
            </a:pPr>
            <a:r>
              <a:rPr lang="en-US" sz="1600" baseline="-4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4203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Geometric:</a:t>
            </a:r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a·b = ‖a‖‖b‖ cos θ, so cos θ = a·b / (‖a‖‖b‖)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369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a·b &gt; 0 → θ &lt; 90°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576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a·b = 0 → θ = 90° (orthogonal)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782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a·b &lt; 0 → θ &gt; 90°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9884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angle between two vectors always runs from 0° to 180°</a:t>
            </a:r>
            <a:endParaRPr lang="en-US" sz="1600" dirty="0"/>
          </a:p>
        </p:txBody>
      </p:sp>
      <p:pic>
        <p:nvPicPr>
          <p:cNvPr id="9" name="Image 0" descr="Dot product &amp; cosine similarity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594360"/>
            <a:ext cx="6035040" cy="3200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42976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a = (3, 2), b = (1, 4): a·b = 3 + 8 = 11 = √13·√17·cos 42.3°. Turn b from 0° to 180° and cos θ falls from 1 to −1.</a:t>
            </a:r>
            <a:endParaRPr lang="en-US" sz="1600" dirty="0"/>
          </a:p>
        </p:txBody>
      </p:sp>
      <p:sp>
        <p:nvSpPr>
          <p:cNvPr id="11" name="Text 8">
            <a:hlinkClick r:id="rId3" tooltip="Replay" action="ppaction://hlinksldjump"/>
          </p:cNvPr>
          <p:cNvSpPr txBox="1"/>
          <p:nvPr/>
        </p:nvSpPr>
        <p:spPr>
          <a:xfrm>
            <a:off x="5532120" y="557784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2" name="Text 9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3" name="Text 10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03320" y="6528816"/>
            <a:ext cx="301752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 / 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Matrix basics: addition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rectangular grid of numbers, dimensions written rows × columns</a:t>
            </a:r>
            <a:endParaRPr lang="en-US" sz="1700" dirty="0"/>
          </a:p>
        </p:txBody>
      </p:sp>
      <p:pic>
        <p:nvPicPr>
          <p:cNvPr id="4" name="Image 0" descr="Matrix basics: addition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589520" cy="2295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92024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Dimensions rule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m×n · n×p = m×p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inner n's must match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3×4 · 4×2 = 3×2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+ B = B + A (commutative) · A − B ≠ B − A (not commutative) · Scalar multiplication: 2 × [[3, −2], [1, 4]] = [[6, −4], [2, 8]], every entry doubled.</a:t>
            </a:r>
            <a:endParaRPr lang="en-US" sz="1500" dirty="0"/>
          </a:p>
        </p:txBody>
      </p:sp>
      <p:sp>
        <p:nvSpPr>
          <p:cNvPr id="11" name="Text 8">
            <a:hlinkClick r:id="rId3" tooltip="Replay" action="ppaction://hlinksldjump"/>
          </p:cNvPr>
          <p:cNvSpPr txBox="1"/>
          <p:nvPr/>
        </p:nvSpPr>
        <p:spPr>
          <a:xfrm>
            <a:off x="457200" y="557784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2" name="Text 9">
            <a:hlinkClick r:id="rId4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3" name="Text 10">
            <a:hlinkClick r:id="rId5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03320" y="6528816"/>
            <a:ext cx="326898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13 / 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Matrix multiplication &amp; transpose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Multiplication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Each result entry = dot product of a row with a column.</a:t>
            </a:r>
            <a:endParaRPr lang="en-US" sz="1500" dirty="0"/>
          </a:p>
        </p:txBody>
      </p:sp>
      <p:pic>
        <p:nvPicPr>
          <p:cNvPr id="5" name="Image 0" descr="Matrix multiplication &amp; transpose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5669280" cy="2459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7665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Transpose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Flip rows into columns. (A</a:t>
            </a:r>
            <a:pPr indent="0" marL="0">
              <a:buNone/>
            </a:pPr>
            <a:r>
              <a:rPr lang="en-US" sz="15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)</a:t>
            </a:r>
            <a:pPr indent="0" marL="0">
              <a:buNone/>
            </a:pPr>
            <a:r>
              <a:rPr lang="en-US" sz="15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A. If A = A</a:t>
            </a:r>
            <a:pPr indent="0" marL="0">
              <a:buNone/>
            </a:pPr>
            <a:r>
              <a:rPr lang="en-US" sz="15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, A is symmetric.</a:t>
            </a:r>
            <a:endParaRPr lang="en-US" sz="1500" dirty="0"/>
          </a:p>
        </p:txBody>
      </p:sp>
      <p:pic>
        <p:nvPicPr>
          <p:cNvPr id="8" name="Image 1" descr="Matrix multiplication &amp; transpose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4937760" cy="23774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AB ≠ BA in general: order matters for matrix multiplication.</a:t>
            </a:r>
            <a:endParaRPr lang="en-US" sz="1500" dirty="0"/>
          </a:p>
        </p:txBody>
      </p:sp>
      <p:sp>
        <p:nvSpPr>
          <p:cNvPr id="10" name="Text 6">
            <a:hlinkClick r:id="rId4" tooltip="Replay" action="ppaction://hlinksldjump"/>
          </p:cNvPr>
          <p:cNvSpPr txBox="1"/>
          <p:nvPr/>
        </p:nvSpPr>
        <p:spPr>
          <a:xfrm>
            <a:off x="457200" y="557784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11" name="Text 7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2" name="Text 8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03320" y="6528816"/>
            <a:ext cx="352044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/ 16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Special matrices &amp; matrix power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Square (n×n)</a:t>
            </a:r>
            <a:endParaRPr lang="en-US" sz="1500" dirty="0"/>
          </a:p>
        </p:txBody>
      </p:sp>
      <p:pic>
        <p:nvPicPr>
          <p:cNvPr id="4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731520" cy="7680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74904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Zero matrix O</a:t>
            </a:r>
            <a:endParaRPr lang="en-US" sz="1500" dirty="0"/>
          </a:p>
        </p:txBody>
      </p:sp>
      <p:pic>
        <p:nvPicPr>
          <p:cNvPr id="6" name="Image 1" descr="matrix formu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600200"/>
            <a:ext cx="498348" cy="5394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Identity I</a:t>
            </a:r>
            <a:endParaRPr lang="en-US" sz="1500" dirty="0"/>
          </a:p>
        </p:txBody>
      </p:sp>
      <p:pic>
        <p:nvPicPr>
          <p:cNvPr id="8" name="Image 2" descr="matrix formu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00200"/>
            <a:ext cx="722376" cy="7680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440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Diagonal D</a:t>
            </a:r>
            <a:endParaRPr lang="en-US" sz="1500" dirty="0"/>
          </a:p>
        </p:txBody>
      </p:sp>
      <p:pic>
        <p:nvPicPr>
          <p:cNvPr id="10" name="Image 3" descr="matrix formu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600200"/>
            <a:ext cx="763524" cy="76809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Identity property: A I = A (and I A = A), like multiplying by 1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Matrix powers A</a:t>
            </a:r>
            <a:pPr indent="0" marL="0">
              <a:buNone/>
            </a:pPr>
            <a:r>
              <a:rPr lang="en-US" sz="1500" baseline="300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A × A × … × A only work for SQUARE matrices: multiplication needs matching dimensions every time. Powers of a diagonal matrix are easy: raise each diagonal entry on its own.</a:t>
            </a:r>
            <a:endParaRPr lang="en-US" sz="1500" dirty="0"/>
          </a:p>
        </p:txBody>
      </p:sp>
      <p:pic>
        <p:nvPicPr>
          <p:cNvPr id="13" name="Image 4" descr="matrix formu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343400"/>
            <a:ext cx="3995928" cy="566928"/>
          </a:xfrm>
          <a:prstGeom prst="rect">
            <a:avLst/>
          </a:prstGeom>
        </p:spPr>
      </p:pic>
      <p:sp>
        <p:nvSpPr>
          <p:cNvPr id="14" name="Text 7">
            <a:hlinkClick r:id="rId7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7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5" name="Text 8">
            <a:hlinkClick r:id="rId8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8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703320" y="6528816"/>
            <a:ext cx="377190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15 / 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Worked example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2816352" cy="475488"/>
          </a:xfrm>
          <a:prstGeom prst="rect">
            <a:avLst/>
          </a:prstGeom>
        </p:spPr>
      </p:pic>
      <p:pic>
        <p:nvPicPr>
          <p:cNvPr id="4" name="Image 1" descr="matrix formu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2107692" cy="475488"/>
          </a:xfrm>
          <a:prstGeom prst="rect">
            <a:avLst/>
          </a:prstGeom>
        </p:spPr>
      </p:pic>
      <p:pic>
        <p:nvPicPr>
          <p:cNvPr id="5" name="Image 2" descr="matrix formu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04872"/>
            <a:ext cx="2039112" cy="475488"/>
          </a:xfrm>
          <a:prstGeom prst="rect">
            <a:avLst/>
          </a:prstGeom>
        </p:spPr>
      </p:pic>
      <p:pic>
        <p:nvPicPr>
          <p:cNvPr id="6" name="Image 3" descr="matrix formu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90088"/>
            <a:ext cx="2157984" cy="475488"/>
          </a:xfrm>
          <a:prstGeom prst="rect">
            <a:avLst/>
          </a:prstGeom>
        </p:spPr>
      </p:pic>
      <p:pic>
        <p:nvPicPr>
          <p:cNvPr id="7" name="Image 4" descr="matrix formu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75304"/>
            <a:ext cx="4242816" cy="676656"/>
          </a:xfrm>
          <a:prstGeom prst="rect">
            <a:avLst/>
          </a:prstGeom>
        </p:spPr>
      </p:pic>
      <p:pic>
        <p:nvPicPr>
          <p:cNvPr id="8" name="Image 5" descr="matrix formul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361688"/>
            <a:ext cx="2249424" cy="475488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822960" y="49926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Both sides match: transposing a product reverses the order, (AB)</a:t>
            </a:r>
            <a:pPr indent="0" marL="0">
              <a:buNone/>
            </a:pPr>
            <a:r>
              <a:rPr lang="en-US" sz="1500" baseline="300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B</a:t>
            </a:r>
            <a:pPr indent="0" marL="0">
              <a:buNone/>
            </a:pPr>
            <a:r>
              <a:rPr lang="en-US" sz="1500" baseline="300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</a:t>
            </a:r>
            <a:pPr indent="0" marL="0">
              <a:buNone/>
            </a:pPr>
            <a:r>
              <a:rPr lang="en-US" sz="1500" baseline="300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(not A</a:t>
            </a:r>
            <a:pPr indent="0" marL="0">
              <a:buNone/>
            </a:pPr>
            <a:r>
              <a:rPr lang="en-US" sz="1500" baseline="300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</a:t>
            </a:r>
            <a:pPr indent="0" marL="0">
              <a:buNone/>
            </a:pPr>
            <a:r>
              <a:rPr lang="en-US" sz="1500" baseline="300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pPr indent="0" marL="0">
              <a:buNone/>
            </a:pPr>
            <a:r>
              <a:rPr lang="en-US" sz="15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).</a:t>
            </a:r>
            <a:endParaRPr lang="en-US" sz="1500" dirty="0"/>
          </a:p>
        </p:txBody>
      </p:sp>
      <p:sp>
        <p:nvSpPr>
          <p:cNvPr id="10" name="Text 2">
            <a:hlinkClick r:id="rId8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8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1" name="Shape 3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5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16 /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2026-10-05T03:35:15Z</dcterms:created>
  <dcterms:modified xsi:type="dcterms:W3CDTF">2026-10-05T03:35:15Z</dcterms:modified>
</cp:coreProperties>
</file>