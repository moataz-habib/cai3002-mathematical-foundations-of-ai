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gif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5" Type="http://schemas.openxmlformats.org/officeDocument/2006/relationships/slide" Target="slide1.xml"/><Relationship Id="rId6" Type="http://schemas.openxmlformats.org/officeDocument/2006/relationships/slide" Target="slide3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" Target="slide3.xml"/><Relationship Id="rId5" Type="http://schemas.openxmlformats.org/officeDocument/2006/relationships/slide" Target="slide2.xml"/><Relationship Id="rId6" Type="http://schemas.openxmlformats.org/officeDocument/2006/relationships/slide" Target="slide4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" Target="slide4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5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" Target="slide6.xml"/><Relationship Id="rId5" Type="http://schemas.openxmlformats.org/officeDocument/2006/relationships/slide" Target="slide5.xml"/><Relationship Id="rId6" Type="http://schemas.openxmlformats.org/officeDocument/2006/relationships/slide" Target="slide7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" Target="slide7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" Target="slide9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" Target="slide10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" Target="slide11.xml"/><Relationship Id="rId5" Type="http://schemas.openxmlformats.org/officeDocument/2006/relationships/slide" Target="slide10.xml"/><Relationship Id="rId6" Type="http://schemas.openxmlformats.org/officeDocument/2006/relationships/slide" Target="slide12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" Target="slide12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" Target="slide13.xml"/><Relationship Id="rId5" Type="http://schemas.openxmlformats.org/officeDocument/2006/relationships/slide" Target="slide12.xml"/><Relationship Id="rId6" Type="http://schemas.openxmlformats.org/officeDocument/2006/relationships/slide" Target="slide14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" Target="slide1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" Target="slide15.xml"/><Relationship Id="rId5" Type="http://schemas.openxmlformats.org/officeDocument/2006/relationships/slide" Target="slide14.xml"/><Relationship Id="rId6" Type="http://schemas.openxmlformats.org/officeDocument/2006/relationships/slide" Target="slide16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" Target="slide16.xml"/><Relationship Id="rId5" Type="http://schemas.openxmlformats.org/officeDocument/2006/relationships/slide" Target="slide15.xml"/><Relationship Id="rId6" Type="http://schemas.openxmlformats.org/officeDocument/2006/relationships/slide" Target="slide17.xm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" Target="slide17.xml"/><Relationship Id="rId5" Type="http://schemas.openxmlformats.org/officeDocument/2006/relationships/slide" Target="slide16.xml"/><Relationship Id="rId6" Type="http://schemas.openxmlformats.org/officeDocument/2006/relationships/slide" Target="slide18.xm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1" Type="http://schemas.openxmlformats.org/officeDocument/2006/relationships/image" Target="../media/Slide-18-image-1.png"/><Relationship Id="rId2" Type="http://schemas.openxmlformats.org/officeDocument/2006/relationships/image" Target="../media/image-18-2.gif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1" Type="http://schemas.openxmlformats.org/officeDocument/2006/relationships/image" Target="../media/Slide-19-image-1.png"/><Relationship Id="rId2" Type="http://schemas.openxmlformats.org/officeDocument/2006/relationships/image" Target="../media/image-19-2.gif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19.xml"/><Relationship Id="rId10" Type="http://schemas.openxmlformats.org/officeDocument/2006/relationships/slide" Target="slide21.xml"/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gif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gif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Linear transformation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6245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matrix is a function: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 input vector, multiply, and an output vector.</a:t>
            </a:r>
            <a:endParaRPr lang="en-US" sz="1700" dirty="0"/>
          </a:p>
        </p:txBody>
      </p:sp>
      <p:pic>
        <p:nvPicPr>
          <p:cNvPr id="4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0552"/>
            <a:ext cx="2990088" cy="557784"/>
          </a:xfrm>
          <a:prstGeom prst="rect">
            <a:avLst/>
          </a:prstGeom>
        </p:spPr>
      </p:pic>
      <p:pic>
        <p:nvPicPr>
          <p:cNvPr id="5" name="Image 1" descr="matrix form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52928"/>
            <a:ext cx="2523744" cy="5577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" y="357530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output vector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is a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linear combination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of </a:t>
            </a:r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column 1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and </a:t>
            </a:r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column 2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scale column 1 by x, scale column 2 by y, then add.</a:t>
            </a:r>
            <a:endParaRPr lang="en-US" sz="1700" dirty="0"/>
          </a:p>
        </p:txBody>
      </p:sp>
      <p:pic>
        <p:nvPicPr>
          <p:cNvPr id="7" name="Image 2" descr="Linear transformation ani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3">
            <a:hlinkClick r:id="rId5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4">
            <a:hlinkClick r:id="rId6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5">
            <a:hlinkClick r:id="rId7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703320" y="6528816"/>
            <a:ext cx="191589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/ 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Scaling: stretch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1947672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(1, 1) → P′ (3, 2)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Square becomes a 3 × 2 rectangle: area × 6 (det = 6)</a:t>
            </a:r>
            <a:endParaRPr lang="en-US" sz="1700" dirty="0"/>
          </a:p>
        </p:txBody>
      </p:sp>
      <p:pic>
        <p:nvPicPr>
          <p:cNvPr id="6" name="Image 1" descr="Scaling: stretch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47548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Blue</a:t>
            </a:r>
            <a:pPr indent="0" marL="0">
              <a:buNone/>
            </a:pPr>
            <a:r>
              <a:rPr lang="en-US" sz="11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where (1,0) lands.  </a:t>
            </a:r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Pink</a:t>
            </a:r>
            <a:pPr indent="0" marL="0">
              <a:buNone/>
            </a:pPr>
            <a:r>
              <a:rPr lang="en-US" sz="11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where (0,1) lands.  </a:t>
            </a:r>
            <a:pPr indent="0" marL="0">
              <a:buNone/>
            </a:pPr>
            <a:r>
              <a:rPr lang="en-US" sz="1100" b="1" dirty="0">
                <a:solidFill>
                  <a:srgbClr val="B9780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Yellow square</a:t>
            </a:r>
            <a:pPr indent="0" marL="0">
              <a:buNone/>
            </a:pPr>
            <a:r>
              <a:rPr lang="en-US" sz="11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unit square (dashed = before).  </a:t>
            </a:r>
            <a:pPr indent="0" marL="0">
              <a:buNone/>
            </a:pPr>
            <a:r>
              <a:rPr lang="en-US" sz="1100" b="1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Gray arrow</a:t>
            </a:r>
            <a:pPr indent="0" marL="0">
              <a:buNone/>
            </a:pPr>
            <a:r>
              <a:rPr lang="en-US" sz="11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input vector.  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Green arrow</a:t>
            </a:r>
            <a:pPr indent="0" marL="0">
              <a:buNone/>
            </a:pPr>
            <a:r>
              <a:rPr lang="en-US" sz="11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: output vector.</a:t>
            </a:r>
            <a:endParaRPr lang="en-US" sz="1100" dirty="0"/>
          </a:p>
        </p:txBody>
      </p:sp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383177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 / 21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Scaling: shrink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4082796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(2, 2) → P′ (1, 1)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 × 0.25 (det = 0.25)</a:t>
            </a:r>
            <a:endParaRPr lang="en-US" sz="1700" dirty="0"/>
          </a:p>
        </p:txBody>
      </p:sp>
      <p:pic>
        <p:nvPicPr>
          <p:cNvPr id="6" name="Image 1" descr="Scaling: shrink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574766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/ 21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Rotation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5234940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(2, 1) → P′ (0.13, 2.23)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Green arc = 60°, the angle from P to P′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992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 unchanged (det = 1)</a:t>
            </a:r>
            <a:endParaRPr lang="en-US" sz="1700" dirty="0"/>
          </a:p>
        </p:txBody>
      </p:sp>
      <p:pic>
        <p:nvPicPr>
          <p:cNvPr id="7" name="Image 1" descr="Rotation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766354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/ 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Reflection: across the x-axis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244144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(2, 1) → P′ (2, −1)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Orientation reverses (det = −1)</a:t>
            </a:r>
            <a:endParaRPr lang="en-US" sz="1700" dirty="0"/>
          </a:p>
        </p:txBody>
      </p:sp>
      <p:pic>
        <p:nvPicPr>
          <p:cNvPr id="6" name="Image 1" descr="Reflection: across the x-axis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957943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/ 21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Reflection: across the y-axis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244144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(2, 1) → P′ (−2, 1)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Orientation reverses (det = −1)</a:t>
            </a:r>
            <a:endParaRPr lang="en-US" sz="1700" dirty="0"/>
          </a:p>
        </p:txBody>
      </p:sp>
      <p:pic>
        <p:nvPicPr>
          <p:cNvPr id="6" name="Image 1" descr="Reflection: across the y-axis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1149531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 / 21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Shear: horizontal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321868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(1, 2) → P′ (3, 2)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square leans; area unchanged (det = 1)</a:t>
            </a:r>
            <a:endParaRPr lang="en-US" sz="1700" dirty="0"/>
          </a:p>
        </p:txBody>
      </p:sp>
      <p:pic>
        <p:nvPicPr>
          <p:cNvPr id="6" name="Image 1" descr="Shear: horizontal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134112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 / 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Shear: vertical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321868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(2, 1) → P′ (2, 3)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square leans; area unchanged (det = 1)</a:t>
            </a:r>
            <a:endParaRPr lang="en-US" sz="1700" dirty="0"/>
          </a:p>
        </p:txBody>
      </p:sp>
      <p:pic>
        <p:nvPicPr>
          <p:cNvPr id="6" name="Image 1" descr="Shear: vertical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1532709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 / 21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determinant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1769364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|det| is the factor the area is multiplied by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Sign: positive keeps orientation, negative flips it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3101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Zero: the plane collapses onto a line</a:t>
            </a:r>
            <a:endParaRPr lang="en-US" sz="1700" dirty="0"/>
          </a:p>
        </p:txBody>
      </p:sp>
      <p:pic>
        <p:nvPicPr>
          <p:cNvPr id="7" name="Image 1" descr="The determinant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1724297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 / 21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 gets smaller: |det| below 1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104698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det = 1·0.5 − 0·0 = 0.5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Unit square (area 1) becomes area 0.5</a:t>
            </a:r>
            <a:endParaRPr lang="en-US" sz="1700" dirty="0"/>
          </a:p>
        </p:txBody>
      </p:sp>
      <p:pic>
        <p:nvPicPr>
          <p:cNvPr id="6" name="Image 1" descr="Area gets smaller: |det| below 1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1915886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 / 21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 becomes 0: dependent columns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868680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Columns (1, 1) and (−1, −1) lie on one line: linearly dependent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32841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det = 0: the plane collapses onto y = x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8561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 (1, 2) → P′ (−1, −1). The move cannot be undone</a:t>
            </a:r>
            <a:endParaRPr lang="en-US" sz="1700" dirty="0"/>
          </a:p>
        </p:txBody>
      </p:sp>
      <p:pic>
        <p:nvPicPr>
          <p:cNvPr id="7" name="Image 1" descr="Area becomes 0: dependent columns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2107474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 / 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Q10: 2×2 determinant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2199132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0848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Unit square becomes area 10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5420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Orientation kept (positive sign)</a:t>
            </a:r>
            <a:endParaRPr lang="en-US" sz="1700" dirty="0"/>
          </a:p>
        </p:txBody>
      </p:sp>
      <p:pic>
        <p:nvPicPr>
          <p:cNvPr id="6" name="Image 1" descr="Q10: 2×2 determinant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2299063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 / 21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Q11: det(A) = −6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624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Areas are multiplied by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1965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Negative sign: orientation is reversed (mirror image)</a:t>
            </a:r>
            <a:endParaRPr lang="en-US" sz="1700" dirty="0"/>
          </a:p>
        </p:txBody>
      </p:sp>
      <p:pic>
        <p:nvPicPr>
          <p:cNvPr id="5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87752"/>
            <a:ext cx="5669280" cy="526372"/>
          </a:xfrm>
          <a:prstGeom prst="rect">
            <a:avLst/>
          </a:prstGeom>
        </p:spPr>
      </p:pic>
      <p:pic>
        <p:nvPicPr>
          <p:cNvPr id="6" name="Image 1" descr="Q11: det(A) = −6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2490651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13 / 21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Q12: Unit square transformation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850392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(0,0) → (0, 0) and (1,0) → (2, 0)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(1,1) → (3, 3) and (0,1) → (1, 3)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Area =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det(A) = 2·3 − 1·0</a:t>
            </a:r>
            <a:endParaRPr lang="en-US" sz="1700" dirty="0"/>
          </a:p>
        </p:txBody>
      </p:sp>
      <p:pic>
        <p:nvPicPr>
          <p:cNvPr id="7" name="Image 1" descr="Q12: Unit square transformation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268224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/ 21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Q16: 90° counterclockwise matrix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1316736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(1, 0) → (0, 1) and (0, 1) → (−1, 0)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cos 90° = 0 and sin 90° = 1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Green arc = 90°</a:t>
            </a:r>
            <a:endParaRPr lang="en-US" sz="1700" dirty="0"/>
          </a:p>
        </p:txBody>
      </p:sp>
      <p:pic>
        <p:nvPicPr>
          <p:cNvPr id="7" name="Image 1" descr="Q16: 90° counterclockwise matrix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8" name="Text 4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9" name="Text 5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0" name="Text 6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6528816"/>
            <a:ext cx="2873829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15 / 21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Q17: Rotate (3, 4) by 90°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1504188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(3, 4) →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(−4, 3)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Distance from the origin stays 5</a:t>
            </a:r>
            <a:endParaRPr lang="en-US" sz="1700" dirty="0"/>
          </a:p>
        </p:txBody>
      </p:sp>
      <p:pic>
        <p:nvPicPr>
          <p:cNvPr id="6" name="Image 1" descr="Q17: Rotate (3, 4) by 90°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3065417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16 / 21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Q18: 30° rotation of (2, 0)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7944"/>
            <a:ext cx="2116836" cy="5577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5603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(2, 0) →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(√3, 1)</a:t>
            </a:r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≈ (1.73, 1)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Green arc = 30°</a:t>
            </a:r>
            <a:endParaRPr lang="en-US" sz="1700" dirty="0"/>
          </a:p>
        </p:txBody>
      </p:sp>
      <p:pic>
        <p:nvPicPr>
          <p:cNvPr id="6" name="Image 1" descr="Q18: 30° rotation of (2, 0) ani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3">
            <a:hlinkClick r:id="rId4" tooltip="Replay" action="ppaction://hlinksldjump"/>
          </p:cNvPr>
          <p:cNvSpPr txBox="1"/>
          <p:nvPr/>
        </p:nvSpPr>
        <p:spPr>
          <a:xfrm>
            <a:off x="7040880" y="5285232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Repl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Replay</a:t>
            </a:r>
            <a:endParaRPr lang="en-US" sz="1200" dirty="0"/>
          </a:p>
        </p:txBody>
      </p:sp>
      <p:sp>
        <p:nvSpPr>
          <p:cNvPr id="8" name="Text 4">
            <a:hlinkClick r:id="rId5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9" name="Text 5">
            <a:hlinkClick r:id="rId6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03320" y="6528816"/>
            <a:ext cx="3257006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17 / 21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Q19: Rotate a 4×4 image by 45°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37944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rotation spins around the origin, not the image center C = (2, 2).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060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Move to origin: p₁ = p − C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632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 Rotate 45°: p₂ = R(45°)·p₁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04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Move back: p₃ = p₂ + C, then resample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776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p′ = R(45°)(p − C) + 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p = (3, 1) → (1, −1) → (1.41, 0) →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(3.41, 2)</a:t>
            </a:r>
            <a:endParaRPr lang="en-US" sz="1700" dirty="0"/>
          </a:p>
        </p:txBody>
      </p:sp>
      <p:pic>
        <p:nvPicPr>
          <p:cNvPr id="9" name="Image 0" descr="Q19: Rotate a 4×4 image by 45°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10" name="Text 7">
            <a:hlinkClick r:id="rId3" tooltip="Play all" action="ppaction://hlinksldjump"/>
          </p:cNvPr>
          <p:cNvSpPr txBox="1"/>
          <p:nvPr/>
        </p:nvSpPr>
        <p:spPr>
          <a:xfrm>
            <a:off x="7040880" y="528523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Play 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all</a:t>
            </a:r>
            <a:endParaRPr lang="en-US" sz="1200" dirty="0"/>
          </a:p>
        </p:txBody>
      </p:sp>
      <p:sp>
        <p:nvSpPr>
          <p:cNvPr id="11" name="Text 8">
            <a:hlinkClick r:id="rId4" tooltip="1 Move" action="ppaction://hlinksldjump"/>
          </p:cNvPr>
          <p:cNvSpPr txBox="1"/>
          <p:nvPr/>
        </p:nvSpPr>
        <p:spPr>
          <a:xfrm>
            <a:off x="8202168" y="528523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1 Mo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Move</a:t>
            </a:r>
            <a:endParaRPr lang="en-US" sz="1200" dirty="0"/>
          </a:p>
        </p:txBody>
      </p:sp>
      <p:sp>
        <p:nvSpPr>
          <p:cNvPr id="12" name="Text 9">
            <a:hlinkClick r:id="rId5" tooltip="2 Rotate" action="ppaction://hlinksldjump"/>
          </p:cNvPr>
          <p:cNvSpPr txBox="1"/>
          <p:nvPr/>
        </p:nvSpPr>
        <p:spPr>
          <a:xfrm>
            <a:off x="9317736" y="528523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2 Rot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Rotate</a:t>
            </a:r>
            <a:endParaRPr lang="en-US" sz="1200" dirty="0"/>
          </a:p>
        </p:txBody>
      </p:sp>
      <p:sp>
        <p:nvSpPr>
          <p:cNvPr id="13" name="Text 10">
            <a:hlinkClick r:id="rId6" tooltip="3 Move back" action="ppaction://hlinksldjump"/>
          </p:cNvPr>
          <p:cNvSpPr txBox="1"/>
          <p:nvPr/>
        </p:nvSpPr>
        <p:spPr>
          <a:xfrm>
            <a:off x="10570464" y="5285232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3 Move 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Move back</a:t>
            </a:r>
            <a:endParaRPr lang="en-US" sz="1200" dirty="0"/>
          </a:p>
        </p:txBody>
      </p:sp>
      <p:sp>
        <p:nvSpPr>
          <p:cNvPr id="14" name="Text 11">
            <a:hlinkClick r:id="rId7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5" name="Text 12">
            <a:hlinkClick r:id="rId8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03320" y="6528816"/>
            <a:ext cx="3448594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 / 21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Q19, step 1: move to origin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3794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p₁ = p − C, with C = (2, 2)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29514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red dot (center) lands on the origin 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5234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(3, 1) − (2, 2) = (1, −1)</a:t>
            </a:r>
            <a:endParaRPr lang="en-US" sz="1700" dirty="0"/>
          </a:p>
        </p:txBody>
      </p:sp>
      <p:pic>
        <p:nvPicPr>
          <p:cNvPr id="6" name="Image 0" descr="Q19, step 1: move to origin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4">
            <a:hlinkClick r:id="rId3" tooltip="Play all" action="ppaction://hlinksldjump"/>
          </p:cNvPr>
          <p:cNvSpPr txBox="1"/>
          <p:nvPr/>
        </p:nvSpPr>
        <p:spPr>
          <a:xfrm>
            <a:off x="7040880" y="528523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Play 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all</a:t>
            </a:r>
            <a:endParaRPr lang="en-US" sz="1200" dirty="0"/>
          </a:p>
        </p:txBody>
      </p:sp>
      <p:sp>
        <p:nvSpPr>
          <p:cNvPr id="8" name="Text 5">
            <a:hlinkClick r:id="rId4" tooltip="1 Move" action="ppaction://hlinksldjump"/>
          </p:cNvPr>
          <p:cNvSpPr txBox="1"/>
          <p:nvPr/>
        </p:nvSpPr>
        <p:spPr>
          <a:xfrm>
            <a:off x="8202168" y="528523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1 Mo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Move</a:t>
            </a:r>
            <a:endParaRPr lang="en-US" sz="1200" dirty="0"/>
          </a:p>
        </p:txBody>
      </p:sp>
      <p:sp>
        <p:nvSpPr>
          <p:cNvPr id="9" name="Text 6">
            <a:hlinkClick r:id="rId5" tooltip="2 Rotate" action="ppaction://hlinksldjump"/>
          </p:cNvPr>
          <p:cNvSpPr txBox="1"/>
          <p:nvPr/>
        </p:nvSpPr>
        <p:spPr>
          <a:xfrm>
            <a:off x="9317736" y="528523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2 Rot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Rotate</a:t>
            </a:r>
            <a:endParaRPr lang="en-US" sz="1200" dirty="0"/>
          </a:p>
        </p:txBody>
      </p:sp>
      <p:sp>
        <p:nvSpPr>
          <p:cNvPr id="10" name="Text 7">
            <a:hlinkClick r:id="rId6" tooltip="3 Move back" action="ppaction://hlinksldjump"/>
          </p:cNvPr>
          <p:cNvSpPr txBox="1"/>
          <p:nvPr/>
        </p:nvSpPr>
        <p:spPr>
          <a:xfrm>
            <a:off x="10570464" y="5285232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3 Move 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Move back</a:t>
            </a:r>
            <a:endParaRPr lang="en-US" sz="1200" dirty="0"/>
          </a:p>
        </p:txBody>
      </p:sp>
      <p:sp>
        <p:nvSpPr>
          <p:cNvPr id="11" name="Text 8">
            <a:hlinkClick r:id="rId7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2" name="Text 9">
            <a:hlinkClick r:id="rId8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3320" y="6528816"/>
            <a:ext cx="3640183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 / 21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Q19, step 2: rotate 45°</a:t>
            </a:r>
            <a:endParaRPr lang="en-US" sz="2600" dirty="0"/>
          </a:p>
        </p:txBody>
      </p:sp>
      <p:pic>
        <p:nvPicPr>
          <p:cNvPr id="3" name="Image 0" descr="matrix form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2456"/>
            <a:ext cx="3474720" cy="557784"/>
          </a:xfrm>
          <a:prstGeom prst="rect">
            <a:avLst/>
          </a:prstGeom>
        </p:spPr>
      </p:pic>
      <p:pic>
        <p:nvPicPr>
          <p:cNvPr id="4" name="Image 1" descr="matrix formu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84832"/>
            <a:ext cx="2107692" cy="55778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28072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whole image turns around O</a:t>
            </a:r>
            <a:endParaRPr lang="en-US" sz="1700" dirty="0"/>
          </a:p>
        </p:txBody>
      </p:sp>
      <p:pic>
        <p:nvPicPr>
          <p:cNvPr id="6" name="Image 2" descr="Q19, step 2: rotate 45° ani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2">
            <a:hlinkClick r:id="rId5" tooltip="Play all" action="ppaction://hlinksldjump"/>
          </p:cNvPr>
          <p:cNvSpPr txBox="1"/>
          <p:nvPr/>
        </p:nvSpPr>
        <p:spPr>
          <a:xfrm>
            <a:off x="7040880" y="528523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Play 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all</a:t>
            </a:r>
            <a:endParaRPr lang="en-US" sz="1200" dirty="0"/>
          </a:p>
        </p:txBody>
      </p:sp>
      <p:sp>
        <p:nvSpPr>
          <p:cNvPr id="8" name="Text 3">
            <a:hlinkClick r:id="rId6" tooltip="1 Move" action="ppaction://hlinksldjump"/>
          </p:cNvPr>
          <p:cNvSpPr txBox="1"/>
          <p:nvPr/>
        </p:nvSpPr>
        <p:spPr>
          <a:xfrm>
            <a:off x="8202168" y="528523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1 Mo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Move</a:t>
            </a:r>
            <a:endParaRPr lang="en-US" sz="1200" dirty="0"/>
          </a:p>
        </p:txBody>
      </p:sp>
      <p:sp>
        <p:nvSpPr>
          <p:cNvPr id="9" name="Text 4">
            <a:hlinkClick r:id="rId7" tooltip="2 Rotate" action="ppaction://hlinksldjump"/>
          </p:cNvPr>
          <p:cNvSpPr txBox="1"/>
          <p:nvPr/>
        </p:nvSpPr>
        <p:spPr>
          <a:xfrm>
            <a:off x="9317736" y="528523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2 Rot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Rotate</a:t>
            </a:r>
            <a:endParaRPr lang="en-US" sz="1200" dirty="0"/>
          </a:p>
        </p:txBody>
      </p:sp>
      <p:sp>
        <p:nvSpPr>
          <p:cNvPr id="10" name="Text 5">
            <a:hlinkClick r:id="rId8" tooltip="3 Move back" action="ppaction://hlinksldjump"/>
          </p:cNvPr>
          <p:cNvSpPr txBox="1"/>
          <p:nvPr/>
        </p:nvSpPr>
        <p:spPr>
          <a:xfrm>
            <a:off x="10570464" y="5285232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3 Move 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Move back</a:t>
            </a:r>
            <a:endParaRPr lang="en-US" sz="1200" dirty="0"/>
          </a:p>
        </p:txBody>
      </p:sp>
      <p:sp>
        <p:nvSpPr>
          <p:cNvPr id="11" name="Text 6">
            <a:hlinkClick r:id="rId9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9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2" name="Text 7">
            <a:hlinkClick r:id="rId10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10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703320" y="6528816"/>
            <a:ext cx="3831771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 / 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Q19, step 3: move back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624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p₃ = p₂ + C, then resample the pixels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(1.41, 0) + (2, 2) = </a:t>
            </a:r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(3.41, 2)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76856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Resampling fills each new pixel from nearby old ones</a:t>
            </a:r>
            <a:endParaRPr lang="en-US" sz="1700" dirty="0"/>
          </a:p>
        </p:txBody>
      </p:sp>
      <p:pic>
        <p:nvPicPr>
          <p:cNvPr id="6" name="Image 0" descr="Q19, step 3: move back ani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594360"/>
            <a:ext cx="4425696" cy="4425696"/>
          </a:xfrm>
          <a:prstGeom prst="rect">
            <a:avLst/>
          </a:prstGeom>
        </p:spPr>
      </p:pic>
      <p:sp>
        <p:nvSpPr>
          <p:cNvPr id="7" name="Text 4">
            <a:hlinkClick r:id="rId3" tooltip="Play all" action="ppaction://hlinksldjump"/>
          </p:cNvPr>
          <p:cNvSpPr txBox="1"/>
          <p:nvPr/>
        </p:nvSpPr>
        <p:spPr>
          <a:xfrm>
            <a:off x="7040880" y="5285232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3" action="ppaction://hlinksldjump" tooltip="Play 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 all</a:t>
            </a:r>
            <a:endParaRPr lang="en-US" sz="1200" dirty="0"/>
          </a:p>
        </p:txBody>
      </p:sp>
      <p:sp>
        <p:nvSpPr>
          <p:cNvPr id="8" name="Text 5">
            <a:hlinkClick r:id="rId4" tooltip="1 Move" action="ppaction://hlinksldjump"/>
          </p:cNvPr>
          <p:cNvSpPr txBox="1"/>
          <p:nvPr/>
        </p:nvSpPr>
        <p:spPr>
          <a:xfrm>
            <a:off x="8202168" y="528523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4" action="ppaction://hlinksldjump" tooltip="1 Mo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Move</a:t>
            </a:r>
            <a:endParaRPr lang="en-US" sz="1200" dirty="0"/>
          </a:p>
        </p:txBody>
      </p:sp>
      <p:sp>
        <p:nvSpPr>
          <p:cNvPr id="9" name="Text 6">
            <a:hlinkClick r:id="rId5" tooltip="2 Rotate" action="ppaction://hlinksldjump"/>
          </p:cNvPr>
          <p:cNvSpPr txBox="1"/>
          <p:nvPr/>
        </p:nvSpPr>
        <p:spPr>
          <a:xfrm>
            <a:off x="9317736" y="528523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5" action="ppaction://hlinksldjump" tooltip="2 Rot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Rotate</a:t>
            </a:r>
            <a:endParaRPr lang="en-US" sz="1200" dirty="0"/>
          </a:p>
        </p:txBody>
      </p:sp>
      <p:sp>
        <p:nvSpPr>
          <p:cNvPr id="10" name="Text 7">
            <a:hlinkClick r:id="rId6" tooltip="3 Move back" action="ppaction://hlinksldjump"/>
          </p:cNvPr>
          <p:cNvSpPr txBox="1"/>
          <p:nvPr/>
        </p:nvSpPr>
        <p:spPr>
          <a:xfrm>
            <a:off x="10570464" y="5285232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6" action="ppaction://hlinksldjump" tooltip="3 Move 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Move back</a:t>
            </a:r>
            <a:endParaRPr lang="en-US" sz="1200" dirty="0"/>
          </a:p>
        </p:txBody>
      </p:sp>
      <p:sp>
        <p:nvSpPr>
          <p:cNvPr id="11" name="Text 8">
            <a:hlinkClick r:id="rId7" tooltip="Back" action="ppaction://hlinksldjump"/>
          </p:cNvPr>
          <p:cNvSpPr txBox="1"/>
          <p:nvPr/>
        </p:nvSpPr>
        <p:spPr>
          <a:xfrm>
            <a:off x="246888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4213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7" action="ppaction://hlinksldjump" tooltip="Ba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200" dirty="0"/>
          </a:p>
        </p:txBody>
      </p:sp>
      <p:sp>
        <p:nvSpPr>
          <p:cNvPr id="12" name="Text 9">
            <a:hlinkClick r:id="rId8" tooltip="Next" action="ppaction://hlinksldjump"/>
          </p:cNvPr>
          <p:cNvSpPr txBox="1"/>
          <p:nvPr/>
        </p:nvSpPr>
        <p:spPr>
          <a:xfrm>
            <a:off x="8823960" y="6373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9050"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EEF3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  <a:hlinkClick r:id="rId8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CFDBE6"/>
          </a:solidFill>
          <a:ln w="12700">
            <a:solidFill>
              <a:srgbClr val="CFDB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3320" y="6528816"/>
            <a:ext cx="4023360" cy="64008"/>
          </a:xfrm>
          <a:prstGeom prst="roundRect">
            <a:avLst>
              <a:gd name="adj" fmla="val 5714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6373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5D7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21 /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2026-10-05T03:19:07Z</dcterms:created>
  <dcterms:modified xsi:type="dcterms:W3CDTF">2026-10-05T03:19:07Z</dcterms:modified>
</cp:coreProperties>
</file>